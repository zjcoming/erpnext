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/>
          <p:cNvSpPr>
            <a:spLocks noGrp="1"/>
          </p:cNvSpPr>
          <p:nvPr/>
        </p:nvSpPr>
        <p:spPr>
          <a:xfrm>
            <a:off x="552450" y="552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/>
          <p:cNvSpPr>
            <a:spLocks noGrp="1"/>
          </p:cNvSpPr>
          <p:nvPr/>
        </p:nvSpPr>
        <p:spPr>
          <a:xfrm>
            <a:off x="742950" y="447675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EXECUTIVE ROADSHOW</a:t>
            </a:r>
            <a:endParaRPr sz="10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000125"/>
            <a:ext cx="5810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一张订单，驱动补料与生产闭环</a:t>
            </a:r>
            <a:endParaRPr sz="37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238375"/>
            <a:ext cx="514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ERPNext 将销售需求、缺料采购、领料生产与成本入库连成同一条可追溯链路。</a:t>
            </a:r>
            <a:endParaRPr sz="15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505575" y="600075"/>
            <a:ext cx="5229225" cy="4648200"/>
          </a:xfrm>
          <a:prstGeom prst="roundRect">
            <a:avLst>
              <a:gd name="adj" fmla="val 1639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8813" r="8813"/>
          <a:stretch>
            <a:fillRect/>
          </a:stretch>
        </p:blipFill>
        <p:spPr>
          <a:xfrm>
            <a:off x="6572250" y="666750"/>
            <a:ext cx="5095875" cy="4514850"/>
          </a:xfrm>
          <a:prstGeom prst="rect">
            <a:avLst/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571500" y="3762375"/>
            <a:ext cx="1676400" cy="1181100"/>
          </a:xfrm>
          <a:prstGeom prst="roundRect">
            <a:avLst>
              <a:gd name="adj" fmla="val 645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571500" y="3762375"/>
            <a:ext cx="47625" cy="11811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895725"/>
            <a:ext cx="1314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台</a:t>
            </a:r>
            <a:endParaRPr sz="33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4429125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客户订单</a:t>
            </a:r>
            <a:endParaRPr sz="1125" b="1">
              <a:solidFill>
                <a:srgbClr val="28C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676775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CNY 44,000</a:t>
            </a:r>
            <a:endParaRPr sz="8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400300" y="3762375"/>
            <a:ext cx="1676400" cy="1181100"/>
          </a:xfrm>
          <a:prstGeom prst="roundRect">
            <a:avLst>
              <a:gd name="adj" fmla="val 645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2400300" y="3762375"/>
            <a:ext cx="47625" cy="11811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609850" y="3895725"/>
            <a:ext cx="1314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台</a:t>
            </a:r>
            <a:endParaRPr sz="33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09850" y="4429125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B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B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精准补料</a:t>
            </a:r>
            <a:endParaRPr sz="1125" b="1">
              <a:solidFill>
                <a:srgbClr val="FFB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609850" y="4676775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电机缺口</a:t>
            </a:r>
            <a:endParaRPr sz="8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229100" y="3762375"/>
            <a:ext cx="1676400" cy="1181100"/>
          </a:xfrm>
          <a:prstGeom prst="roundRect">
            <a:avLst>
              <a:gd name="adj" fmla="val 645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229100" y="3762375"/>
            <a:ext cx="47625" cy="1181100"/>
          </a:xfrm>
          <a:prstGeom prst="roundRect">
            <a:avLst>
              <a:gd name="adj" fmla="val 50000"/>
            </a:avLst>
          </a:prstGeom>
          <a:solidFill>
            <a:srgbClr val="39D9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438650" y="3895725"/>
            <a:ext cx="1314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1,810</a:t>
            </a:r>
            <a:endParaRPr sz="33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38650" y="4429125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单台成本</a:t>
            </a:r>
            <a:endParaRPr sz="1125" b="1">
              <a:solidFill>
                <a:srgbClr val="39D9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38650" y="4676775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CNY / 台</a:t>
            </a:r>
            <a:endParaRPr sz="8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572250" y="5381625"/>
            <a:ext cx="5095875" cy="876300"/>
          </a:xfrm>
          <a:prstGeom prst="roundRect">
            <a:avLst>
              <a:gd name="adj" fmla="val 8696"/>
            </a:avLst>
          </a:prstGeom>
          <a:solidFill>
            <a:srgbClr val="0C1B2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58000" y="5572125"/>
            <a:ext cx="45243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 → BOM → 缺料 → 采购 → 领料 → 完工 → 库存</a:t>
            </a:r>
            <a:endParaRPr sz="13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0" y="5905500"/>
            <a:ext cx="45243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真实业务单据已在本地 ERPNext 完整验证</a:t>
            </a:r>
            <a:endParaRPr sz="900" b="1">
              <a:solidFill>
                <a:srgbClr val="39D9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1500" y="6496050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test测试公司 (Demo) · 2026-06-13</a:t>
            </a:r>
            <a:endParaRPr sz="825" b="0">
              <a:solidFill>
                <a:srgbClr val="7184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/>
          <p:cNvSpPr>
            <a:spLocks noGrp="1"/>
          </p:cNvSpPr>
          <p:nvPr/>
        </p:nvSpPr>
        <p:spPr>
          <a:xfrm>
            <a:off x="476250" y="45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/>
          <p:cNvSpPr>
            <a:spLocks noGrp="1"/>
          </p:cNvSpPr>
          <p:nvPr/>
        </p:nvSpPr>
        <p:spPr>
          <a:xfrm>
            <a:off x="6667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ORDER ACTIVATION</a:t>
            </a:r>
            <a:endParaRPr sz="10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704850"/>
            <a:ext cx="1076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客户需求被直接翻译成 5 台生产任务</a:t>
            </a:r>
            <a:endParaRPr sz="28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125730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同一销售订单贯穿后续工单、采购与库存动作。</a:t>
            </a:r>
            <a:endParaRPr sz="12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6572250"/>
            <a:ext cx="571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ERPNext 订单驱动补料生产演示 · 2026-06-13</a:t>
            </a:r>
            <a:endParaRPr sz="750" b="0">
              <a:solidFill>
                <a:srgbClr val="7184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334750" y="65341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825" b="1">
              <a:solidFill>
                <a:srgbClr val="7184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95300" y="1952625"/>
            <a:ext cx="2381250" cy="1181100"/>
          </a:xfrm>
          <a:prstGeom prst="roundRect">
            <a:avLst>
              <a:gd name="adj" fmla="val 645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95300" y="1952625"/>
            <a:ext cx="47625" cy="11811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085975"/>
            <a:ext cx="2019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台</a:t>
            </a:r>
            <a:endParaRPr sz="33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2619375"/>
            <a:ext cx="201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智能水泵</a:t>
            </a:r>
            <a:endParaRPr sz="1125" b="1">
              <a:solidFill>
                <a:srgbClr val="28C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2867025"/>
            <a:ext cx="2019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交期 2026-06-20</a:t>
            </a:r>
            <a:endParaRPr sz="8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95300" y="3238500"/>
            <a:ext cx="2381250" cy="1181100"/>
          </a:xfrm>
          <a:prstGeom prst="roundRect">
            <a:avLst>
              <a:gd name="adj" fmla="val 645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495300" y="3238500"/>
            <a:ext cx="47625" cy="1181100"/>
          </a:xfrm>
          <a:prstGeom prst="roundRect">
            <a:avLst>
              <a:gd name="adj" fmla="val 50000"/>
            </a:avLst>
          </a:prstGeom>
          <a:solidFill>
            <a:srgbClr val="39D9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3371850"/>
            <a:ext cx="2019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44,000</a:t>
            </a:r>
            <a:endParaRPr sz="33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4850" y="3905250"/>
            <a:ext cx="201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订单金额</a:t>
            </a:r>
            <a:endParaRPr sz="1125" b="1">
              <a:solidFill>
                <a:srgbClr val="39D9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" y="4152900"/>
            <a:ext cx="2019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CNY</a:t>
            </a:r>
            <a:endParaRPr sz="8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95300" y="468630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0C1B2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876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SAL-ORD-2026-00006</a:t>
            </a:r>
            <a:endParaRPr sz="105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1816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销售订单</a:t>
            </a:r>
            <a:endParaRPr sz="975" b="1">
              <a:solidFill>
                <a:srgbClr val="28C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5476875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关联 BOM 与生产工单</a:t>
            </a:r>
            <a:endParaRPr sz="9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3190875" y="1724025"/>
            <a:ext cx="8324850" cy="4324350"/>
          </a:xfrm>
          <a:prstGeom prst="roundRect">
            <a:avLst>
              <a:gd name="adj" fmla="val 1762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t="14949" b="14949"/>
          <a:stretch>
            <a:fillRect/>
          </a:stretch>
        </p:blipFill>
        <p:spPr>
          <a:xfrm>
            <a:off x="3257550" y="1790700"/>
            <a:ext cx="81915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/>
          <p:cNvSpPr>
            <a:spLocks noGrp="1"/>
          </p:cNvSpPr>
          <p:nvPr/>
        </p:nvSpPr>
        <p:spPr>
          <a:xfrm>
            <a:off x="476250" y="45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/>
          <p:cNvSpPr>
            <a:spLocks noGrp="1"/>
          </p:cNvSpPr>
          <p:nvPr/>
        </p:nvSpPr>
        <p:spPr>
          <a:xfrm>
            <a:off x="6667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SHORTAGE CONTROL</a:t>
            </a:r>
            <a:endParaRPr sz="10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704850"/>
            <a:ext cx="1076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系统在停产前，先暴露出精确的 3 台缺口</a:t>
            </a:r>
            <a:endParaRPr sz="28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125730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BOM 需求与仓库可用量在工单层面直接对比。</a:t>
            </a:r>
            <a:endParaRPr sz="12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6572250"/>
            <a:ext cx="571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ERPNext 订单驱动补料生产演示 · 2026-06-13</a:t>
            </a:r>
            <a:endParaRPr sz="750" b="0">
              <a:solidFill>
                <a:srgbClr val="7184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334750" y="65341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825" b="1">
              <a:solidFill>
                <a:srgbClr val="7184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2047875"/>
            <a:ext cx="2190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700" b="1">
                <a:solidFill>
                  <a:srgbClr val="FFB54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700" b="1">
                <a:solidFill>
                  <a:srgbClr val="FFB54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8700" b="1">
              <a:solidFill>
                <a:srgbClr val="FFB54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35242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台电机缺口</a:t>
            </a:r>
            <a:endParaRPr sz="18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52450" y="4048125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426720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endParaRPr sz="1050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81125" y="4171950"/>
            <a:ext cx="523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24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924050" y="4171950"/>
            <a:ext cx="28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2250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19325" y="4171950"/>
            <a:ext cx="523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24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152650" y="4619625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</a:t>
            </a:r>
            <a:endParaRPr sz="1050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4972050"/>
            <a:ext cx="1952625" cy="19050"/>
          </a:xfrm>
          <a:prstGeom prst="rect">
            <a:avLst/>
          </a:prstGeom>
          <a:solidFill>
            <a:srgbClr val="2944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2950" y="5105400"/>
            <a:ext cx="1952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B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B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3 台需补料</a:t>
            </a:r>
            <a:endParaRPr sz="1275" b="1">
              <a:solidFill>
                <a:srgbClr val="FFB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267075" y="1724025"/>
            <a:ext cx="8039100" cy="4305300"/>
          </a:xfrm>
          <a:prstGeom prst="roundRect">
            <a:avLst>
              <a:gd name="adj" fmla="val 1770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rcRect t="13847" b="13847"/>
          <a:stretch>
            <a:fillRect/>
          </a:stretch>
        </p:blipFill>
        <p:spPr>
          <a:xfrm>
            <a:off x="3333750" y="1790700"/>
            <a:ext cx="790575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/>
          <p:cNvSpPr>
            <a:spLocks noGrp="1"/>
          </p:cNvSpPr>
          <p:nvPr/>
        </p:nvSpPr>
        <p:spPr>
          <a:xfrm>
            <a:off x="476250" y="45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/>
          <p:cNvSpPr>
            <a:spLocks noGrp="1"/>
          </p:cNvSpPr>
          <p:nvPr/>
        </p:nvSpPr>
        <p:spPr>
          <a:xfrm>
            <a:off x="6667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REPLENISHMENT LOOP</a:t>
            </a:r>
            <a:endParaRPr sz="10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704850"/>
            <a:ext cx="1076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三张单据把缺料从“发现”推到“到货”</a:t>
            </a:r>
            <a:endParaRPr sz="28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125730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每一步都有编号、数量、金额和状态，管理者可以逐级追溯。</a:t>
            </a:r>
            <a:endParaRPr sz="12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6572250"/>
            <a:ext cx="571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ERPNext 订单驱动补料生产演示 · 2026-06-13</a:t>
            </a:r>
            <a:endParaRPr sz="750" b="0">
              <a:solidFill>
                <a:srgbClr val="7184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334750" y="65341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825" b="1">
              <a:solidFill>
                <a:srgbClr val="7184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7675" y="1885950"/>
            <a:ext cx="3419475" cy="2514600"/>
          </a:xfrm>
          <a:prstGeom prst="roundRect">
            <a:avLst>
              <a:gd name="adj" fmla="val 3030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t="355" b="355"/>
          <a:stretch>
            <a:fillRect/>
          </a:stretch>
        </p:blipFill>
        <p:spPr>
          <a:xfrm>
            <a:off x="514350" y="1952625"/>
            <a:ext cx="3286125" cy="238125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4391025" y="1885950"/>
            <a:ext cx="3419475" cy="2514600"/>
          </a:xfrm>
          <a:prstGeom prst="roundRect">
            <a:avLst>
              <a:gd name="adj" fmla="val 3030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355" b="355"/>
          <a:stretch>
            <a:fillRect/>
          </a:stretch>
        </p:blipFill>
        <p:spPr>
          <a:xfrm>
            <a:off x="4457700" y="1952625"/>
            <a:ext cx="3286125" cy="2381250"/>
          </a:xfrm>
          <a:prstGeom prst="rect">
            <a:avLst/>
          </a:prstGeom>
        </p:spPr>
      </p:pic>
      <p:sp>
        <p:nvSpPr>
          <p:cNvPr id="14" name="圆角矩形 13"/>
          <p:cNvSpPr>
            <a:spLocks noGrp="1"/>
          </p:cNvSpPr>
          <p:nvPr/>
        </p:nvSpPr>
        <p:spPr>
          <a:xfrm>
            <a:off x="8334375" y="1885950"/>
            <a:ext cx="3419475" cy="2514600"/>
          </a:xfrm>
          <a:prstGeom prst="roundRect">
            <a:avLst>
              <a:gd name="adj" fmla="val 3030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t="355" b="355"/>
          <a:stretch>
            <a:fillRect/>
          </a:stretch>
        </p:blipFill>
        <p:spPr>
          <a:xfrm>
            <a:off x="8401050" y="1952625"/>
            <a:ext cx="3286125" cy="23812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3943350" y="2743200"/>
            <a:ext cx="361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8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8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86700" y="2743200"/>
            <a:ext cx="361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8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8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14350" y="4667250"/>
            <a:ext cx="3286125" cy="819150"/>
          </a:xfrm>
          <a:prstGeom prst="roundRect">
            <a:avLst>
              <a:gd name="adj" fmla="val 930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66750" y="48196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B5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48196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811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8111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08111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00150" y="4810125"/>
            <a:ext cx="24479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 3 台高效电机</a:t>
            </a:r>
            <a:endParaRPr sz="12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00150" y="5124450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MAT-MR-2026-00001</a:t>
            </a:r>
            <a:endParaRPr sz="825" b="0">
              <a:solidFill>
                <a:srgbClr val="A9B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457700" y="4667250"/>
            <a:ext cx="3286125" cy="819150"/>
          </a:xfrm>
          <a:prstGeom prst="roundRect">
            <a:avLst>
              <a:gd name="adj" fmla="val 930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4610100" y="48196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610100" y="48196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811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8111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08111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143500" y="4810125"/>
            <a:ext cx="24479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采购金额 CNY 3,750</a:t>
            </a:r>
            <a:endParaRPr sz="12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143500" y="5124450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PUR-ORD-2026-00011</a:t>
            </a:r>
            <a:endParaRPr sz="825" b="0">
              <a:solidFill>
                <a:srgbClr val="A9B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401050" y="4667250"/>
            <a:ext cx="3286125" cy="819150"/>
          </a:xfrm>
          <a:prstGeom prst="roundRect">
            <a:avLst>
              <a:gd name="adj" fmla="val 930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8553450" y="48196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39D9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553450" y="48196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811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8111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08111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086850" y="4810125"/>
            <a:ext cx="24479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收货完成 100%</a:t>
            </a:r>
            <a:endParaRPr sz="12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86850" y="5124450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MAT-PRE-2026-00001</a:t>
            </a:r>
            <a:endParaRPr sz="825" b="0">
              <a:solidFill>
                <a:srgbClr val="A9B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2857500" y="5734050"/>
            <a:ext cx="6477000" cy="457200"/>
          </a:xfrm>
          <a:prstGeom prst="roundRect">
            <a:avLst>
              <a:gd name="adj" fmla="val 16667"/>
            </a:avLst>
          </a:prstGeom>
          <a:solidFill>
            <a:srgbClr val="0C1B2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143250" y="583882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缺料数量 3  →  采购数量 3  →  收货数量 3</a:t>
            </a:r>
            <a:endParaRPr sz="12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/>
          <p:cNvSpPr>
            <a:spLocks noGrp="1"/>
          </p:cNvSpPr>
          <p:nvPr/>
        </p:nvSpPr>
        <p:spPr>
          <a:xfrm>
            <a:off x="476250" y="45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/>
          <p:cNvSpPr>
            <a:spLocks noGrp="1"/>
          </p:cNvSpPr>
          <p:nvPr/>
        </p:nvSpPr>
        <p:spPr>
          <a:xfrm>
            <a:off x="6667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PRODUCTION EXECUTION</a:t>
            </a:r>
            <a:endParaRPr sz="10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704850"/>
            <a:ext cx="1076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原料进入在制，随后等值转化为 5 台成品</a:t>
            </a:r>
            <a:endParaRPr sz="28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125730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领料与完工分开记录，库存位置和制造价值同步更新。</a:t>
            </a:r>
            <a:endParaRPr sz="12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6572250"/>
            <a:ext cx="571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ERPNext 订单驱动补料生产演示 · 2026-06-13</a:t>
            </a:r>
            <a:endParaRPr sz="750" b="0">
              <a:solidFill>
                <a:srgbClr val="7184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334750" y="65341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825" b="1">
              <a:solidFill>
                <a:srgbClr val="7184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7675" y="1895475"/>
            <a:ext cx="5229225" cy="3467100"/>
          </a:xfrm>
          <a:prstGeom prst="roundRect">
            <a:avLst>
              <a:gd name="adj" fmla="val 2198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t="5181" b="5181"/>
          <a:stretch>
            <a:fillRect/>
          </a:stretch>
        </p:blipFill>
        <p:spPr>
          <a:xfrm>
            <a:off x="514350" y="1962150"/>
            <a:ext cx="5095875" cy="333375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6515100" y="1895475"/>
            <a:ext cx="5229225" cy="3467100"/>
          </a:xfrm>
          <a:prstGeom prst="roundRect">
            <a:avLst>
              <a:gd name="adj" fmla="val 2198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5181" b="5181"/>
          <a:stretch>
            <a:fillRect/>
          </a:stretch>
        </p:blipFill>
        <p:spPr>
          <a:xfrm>
            <a:off x="6581775" y="1962150"/>
            <a:ext cx="5095875" cy="3333750"/>
          </a:xfrm>
          <a:prstGeom prst="rect">
            <a:avLst/>
          </a:prstGeom>
        </p:spPr>
      </p:pic>
      <p:sp>
        <p:nvSpPr>
          <p:cNvPr id="14" name="圆角矩形 13"/>
          <p:cNvSpPr>
            <a:spLocks noGrp="1"/>
          </p:cNvSpPr>
          <p:nvPr/>
        </p:nvSpPr>
        <p:spPr>
          <a:xfrm>
            <a:off x="5743575" y="3009900"/>
            <a:ext cx="704850" cy="704850"/>
          </a:xfrm>
          <a:prstGeom prst="roundRect">
            <a:avLst>
              <a:gd name="adj" fmla="val 10811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743575" y="3009900"/>
            <a:ext cx="7048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000" b="1">
                <a:solidFill>
                  <a:srgbClr val="0811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08111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3000" b="1">
              <a:solidFill>
                <a:srgbClr val="08111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14350" y="5581650"/>
            <a:ext cx="11163300" cy="628650"/>
          </a:xfrm>
          <a:prstGeom prst="roundRect">
            <a:avLst>
              <a:gd name="adj" fmla="val 12121"/>
            </a:avLst>
          </a:prstGeom>
          <a:solidFill>
            <a:srgbClr val="0C1B2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57340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原料仓</a:t>
            </a:r>
            <a:endParaRPr sz="1050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790700" y="56959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8C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38375" y="57340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在制品仓</a:t>
            </a:r>
            <a:endParaRPr sz="10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448050" y="56959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8C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905250" y="57340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成品仓 5 台</a:t>
            </a:r>
            <a:endParaRPr sz="1050" b="1">
              <a:solidFill>
                <a:srgbClr val="39D9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667375" y="5676900"/>
            <a:ext cx="19050" cy="333375"/>
          </a:xfrm>
          <a:prstGeom prst="rect">
            <a:avLst/>
          </a:prstGeom>
          <a:solidFill>
            <a:srgbClr val="2944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000750" y="568642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耗用价值</a:t>
            </a:r>
            <a:endParaRPr sz="975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00875" y="56388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CNY 9,050</a:t>
            </a:r>
            <a:endParaRPr sz="165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572500" y="5638800"/>
            <a:ext cx="33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endParaRPr sz="1650" b="1">
              <a:solidFill>
                <a:srgbClr val="39D9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048750" y="568642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入库价值</a:t>
            </a:r>
            <a:endParaRPr sz="975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001250" y="56388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CNY 9,050</a:t>
            </a:r>
            <a:endParaRPr sz="165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/>
          <p:cNvSpPr>
            <a:spLocks noGrp="1"/>
          </p:cNvSpPr>
          <p:nvPr/>
        </p:nvSpPr>
        <p:spPr>
          <a:xfrm>
            <a:off x="476250" y="45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/>
          <p:cNvSpPr>
            <a:spLocks noGrp="1"/>
          </p:cNvSpPr>
          <p:nvPr/>
        </p:nvSpPr>
        <p:spPr>
          <a:xfrm>
            <a:off x="6667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MEASURABLE OUTPUT</a:t>
            </a:r>
            <a:endParaRPr sz="10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704850"/>
            <a:ext cx="1076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闭环结果：5 台成品入库，单台成本 CNY 1,810</a:t>
            </a:r>
            <a:endParaRPr sz="28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125730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工单、库存数量与成本金额在同一结果中对齐。</a:t>
            </a:r>
            <a:endParaRPr sz="12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6572250"/>
            <a:ext cx="571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ERPNext 订单驱动补料生产演示 · 2026-06-13</a:t>
            </a:r>
            <a:endParaRPr sz="750" b="0">
              <a:solidFill>
                <a:srgbClr val="7184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334750" y="65341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825" b="1">
              <a:solidFill>
                <a:srgbClr val="7184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8625" y="1800225"/>
            <a:ext cx="6991350" cy="2800350"/>
          </a:xfrm>
          <a:prstGeom prst="roundRect">
            <a:avLst>
              <a:gd name="adj" fmla="val 2721"/>
            </a:avLst>
          </a:prstGeom>
          <a:solidFill>
            <a:srgbClr val="050A12"/>
          </a:solidFill>
          <a:ln w="9525">
            <a:solidFill>
              <a:srgbClr val="29445F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5244" r="5244"/>
          <a:stretch>
            <a:fillRect/>
          </a:stretch>
        </p:blipFill>
        <p:spPr>
          <a:xfrm>
            <a:off x="495300" y="1866900"/>
            <a:ext cx="6858000" cy="266700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495300" y="4724400"/>
            <a:ext cx="6858000" cy="1047750"/>
          </a:xfrm>
          <a:prstGeom prst="roundRect">
            <a:avLst>
              <a:gd name="adj" fmla="val 7273"/>
            </a:avLst>
          </a:prstGeom>
          <a:solidFill>
            <a:srgbClr val="0C1B2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491490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库存余额报表直接核对</a:t>
            </a:r>
            <a:endParaRPr sz="12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53149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结余数量</a:t>
            </a:r>
            <a:endParaRPr sz="900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81150" y="5238750"/>
            <a:ext cx="819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39D9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39D9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5.000</a:t>
            </a:r>
            <a:endParaRPr sz="1575" b="1">
              <a:solidFill>
                <a:srgbClr val="39D9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00350" y="53149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结余金额</a:t>
            </a:r>
            <a:endParaRPr sz="900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714750" y="52387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CNY 9,050</a:t>
            </a:r>
            <a:endParaRPr sz="1575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95900" y="53149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成本价</a:t>
            </a:r>
            <a:endParaRPr sz="900" b="1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00750" y="5238750"/>
            <a:ext cx="1009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FFB54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FB54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1,810</a:t>
            </a:r>
            <a:endParaRPr sz="1575" b="1">
              <a:solidFill>
                <a:srgbClr val="FFB54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96200" y="1866900"/>
            <a:ext cx="3524250" cy="1181100"/>
          </a:xfrm>
          <a:prstGeom prst="roundRect">
            <a:avLst>
              <a:gd name="adj" fmla="val 645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7696200" y="1866900"/>
            <a:ext cx="47625" cy="1181100"/>
          </a:xfrm>
          <a:prstGeom prst="roundRect">
            <a:avLst>
              <a:gd name="adj" fmla="val 50000"/>
            </a:avLst>
          </a:prstGeom>
          <a:solidFill>
            <a:srgbClr val="39D9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905750" y="2000250"/>
            <a:ext cx="3162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100%</a:t>
            </a:r>
            <a:endParaRPr sz="33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05750" y="25336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工单完成率</a:t>
            </a:r>
            <a:endParaRPr sz="1125" b="1">
              <a:solidFill>
                <a:srgbClr val="39D9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2781300"/>
            <a:ext cx="3162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发料 5 / 完工 5</a:t>
            </a:r>
            <a:endParaRPr sz="8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696200" y="3143250"/>
            <a:ext cx="3524250" cy="1181100"/>
          </a:xfrm>
          <a:prstGeom prst="roundRect">
            <a:avLst>
              <a:gd name="adj" fmla="val 645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7696200" y="3143250"/>
            <a:ext cx="47625" cy="11811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905750" y="3276600"/>
            <a:ext cx="3162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台</a:t>
            </a:r>
            <a:endParaRPr sz="33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05750" y="381000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成品库存</a:t>
            </a:r>
            <a:endParaRPr sz="1125" b="1">
              <a:solidFill>
                <a:srgbClr val="28C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905750" y="4057650"/>
            <a:ext cx="3162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成品 - TD</a:t>
            </a:r>
            <a:endParaRPr sz="8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696200" y="4419600"/>
            <a:ext cx="3524250" cy="1181100"/>
          </a:xfrm>
          <a:prstGeom prst="roundRect">
            <a:avLst>
              <a:gd name="adj" fmla="val 6452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7696200" y="4419600"/>
            <a:ext cx="47625" cy="11811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905750" y="4552950"/>
            <a:ext cx="3162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3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1,810</a:t>
            </a:r>
            <a:endParaRPr sz="3300" b="1">
              <a:solidFill>
                <a:srgbClr val="F4F7F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905750" y="50863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B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B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单台制造成本</a:t>
            </a:r>
            <a:endParaRPr sz="1125" b="1">
              <a:solidFill>
                <a:srgbClr val="FFB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05750" y="5334000"/>
            <a:ext cx="3162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CNY / 台</a:t>
            </a:r>
            <a:endParaRPr sz="82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95300" y="5924550"/>
            <a:ext cx="10725150" cy="361950"/>
          </a:xfrm>
          <a:prstGeom prst="roundRect">
            <a:avLst>
              <a:gd name="adj" fmla="val 21053"/>
            </a:avLst>
          </a:prstGeom>
          <a:solidFill>
            <a:srgbClr val="0C1B2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6000750"/>
            <a:ext cx="10306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库存余额：5 台   |   结余金额：CNY 9,050   |   工单：MFG-WO-2026-00001</a:t>
            </a:r>
            <a:endParaRPr sz="9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/>
          <p:cNvSpPr>
            <a:spLocks noGrp="1"/>
          </p:cNvSpPr>
          <p:nvPr/>
        </p:nvSpPr>
        <p:spPr>
          <a:xfrm>
            <a:off x="476250" y="45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/>
          <p:cNvSpPr>
            <a:spLocks noGrp="1"/>
          </p:cNvSpPr>
          <p:nvPr/>
        </p:nvSpPr>
        <p:spPr>
          <a:xfrm>
            <a:off x="666750" y="3619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MANAGEMENT VALUE</a:t>
            </a:r>
            <a:endParaRPr sz="10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704850"/>
            <a:ext cx="10763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管理层获得的是一条可控制、可追溯、可复盘的生产链</a:t>
            </a:r>
            <a:endParaRPr sz="28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125730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不是孤立单据，而是一套从需求到成本的统一经营语言。</a:t>
            </a:r>
            <a:endParaRPr sz="1200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6572250"/>
            <a:ext cx="571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184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ERPNext 订单驱动补料生产演示 · 2026-06-13</a:t>
            </a:r>
            <a:endParaRPr sz="750" b="0">
              <a:solidFill>
                <a:srgbClr val="7184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334750" y="65341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7184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825" b="1">
              <a:solidFill>
                <a:srgbClr val="7184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90550" y="2171700"/>
            <a:ext cx="2190750" cy="2000250"/>
          </a:xfrm>
          <a:prstGeom prst="roundRect">
            <a:avLst>
              <a:gd name="adj" fmla="val 3810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1050" y="2381250"/>
            <a:ext cx="5334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628900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endParaRPr sz="21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3124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销售订单</a:t>
            </a:r>
            <a:endParaRPr sz="1200" b="1">
              <a:solidFill>
                <a:srgbClr val="28C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5242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台 / CNY 44,000</a:t>
            </a:r>
            <a:endParaRPr sz="1125" b="1">
              <a:solidFill>
                <a:srgbClr val="A9B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95600" y="2876550"/>
            <a:ext cx="32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2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333750" y="2171700"/>
            <a:ext cx="2190750" cy="2000250"/>
          </a:xfrm>
          <a:prstGeom prst="roundRect">
            <a:avLst>
              <a:gd name="adj" fmla="val 3810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3524250" y="2381250"/>
            <a:ext cx="533400" cy="762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524250" y="2628900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</a:t>
            </a:r>
            <a:endParaRPr sz="21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24250" y="3124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B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B5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缺料补充</a:t>
            </a:r>
            <a:endParaRPr sz="1200" b="1">
              <a:solidFill>
                <a:srgbClr val="FFB5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524250" y="35242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台 / 100% 到货</a:t>
            </a:r>
            <a:endParaRPr sz="1125" b="1">
              <a:solidFill>
                <a:srgbClr val="A9B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638800" y="2876550"/>
            <a:ext cx="32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2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076950" y="2171700"/>
            <a:ext cx="2190750" cy="2000250"/>
          </a:xfrm>
          <a:prstGeom prst="roundRect">
            <a:avLst>
              <a:gd name="adj" fmla="val 3810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6267450" y="2381250"/>
            <a:ext cx="533400" cy="76200"/>
          </a:xfrm>
          <a:prstGeom prst="roundRect">
            <a:avLst>
              <a:gd name="adj" fmla="val 50000"/>
            </a:avLst>
          </a:prstGeom>
          <a:solidFill>
            <a:srgbClr val="39D9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267450" y="2628900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sz="21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67450" y="3124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9D9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领料与生产</a:t>
            </a:r>
            <a:endParaRPr sz="1200" b="1">
              <a:solidFill>
                <a:srgbClr val="39D9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67450" y="35242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套 / 5 台完工</a:t>
            </a:r>
            <a:endParaRPr sz="1125" b="1">
              <a:solidFill>
                <a:srgbClr val="A9B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82000" y="2876550"/>
            <a:ext cx="32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28C3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250" b="1">
              <a:solidFill>
                <a:srgbClr val="28C3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820150" y="2171700"/>
            <a:ext cx="2190750" cy="2000250"/>
          </a:xfrm>
          <a:prstGeom prst="roundRect">
            <a:avLst>
              <a:gd name="adj" fmla="val 3810"/>
            </a:avLst>
          </a:prstGeom>
          <a:solidFill>
            <a:srgbClr val="10243B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9010650" y="2381250"/>
            <a:ext cx="533400" cy="76200"/>
          </a:xfrm>
          <a:prstGeom prst="roundRect">
            <a:avLst>
              <a:gd name="adj" fmla="val 50000"/>
            </a:avLst>
          </a:prstGeom>
          <a:solidFill>
            <a:srgbClr val="28C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010650" y="2628900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endParaRPr sz="21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010650" y="3124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C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成品入库</a:t>
            </a:r>
            <a:endParaRPr sz="1200" b="1">
              <a:solidFill>
                <a:srgbClr val="28C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10650" y="35242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A9B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CNY 1,810 / 台</a:t>
            </a:r>
            <a:endParaRPr sz="1125" b="1">
              <a:solidFill>
                <a:srgbClr val="A9B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90550" y="4686300"/>
            <a:ext cx="10420350" cy="1181100"/>
          </a:xfrm>
          <a:prstGeom prst="roundRect">
            <a:avLst>
              <a:gd name="adj" fmla="val 6452"/>
            </a:avLst>
          </a:prstGeom>
          <a:solidFill>
            <a:srgbClr val="0C1B2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76300" y="489585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一个版本的经营事实</a:t>
            </a:r>
            <a:endParaRPr sz="15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6300" y="529590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9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需求变化可追踪 · 缺料责任可定位 · 库存动作可核验 · 成本结果可复盘</a:t>
            </a:r>
            <a:endParaRPr sz="1275" b="0">
              <a:solidFill>
                <a:srgbClr val="A9B8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420100" y="4895850"/>
            <a:ext cx="2266950" cy="685800"/>
          </a:xfrm>
          <a:prstGeom prst="roundRect">
            <a:avLst>
              <a:gd name="adj" fmla="val 11111"/>
            </a:avLst>
          </a:prstGeom>
          <a:solidFill>
            <a:srgbClr val="39D9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572500" y="499110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08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台按计划完工</a:t>
            </a:r>
            <a:endParaRPr sz="1650" b="1">
              <a:solidFill>
                <a:srgbClr val="08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0" y="53149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8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81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闭环已验证</a:t>
            </a:r>
            <a:endParaRPr sz="825" b="1">
              <a:solidFill>
                <a:srgbClr val="081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7235"/>
            <a:ext cx="12192000" cy="5382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1311</Words>
  <Application>WPS 演示</Application>
  <PresentationFormat>Converted Presentation</PresentationFormat>
  <Paragraphs>242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Dream、追梦</cp:lastModifiedBy>
  <cp:revision>1</cp:revision>
  <dcterms:created xsi:type="dcterms:W3CDTF">2026-06-13T09:52:01Z</dcterms:created>
  <dcterms:modified xsi:type="dcterms:W3CDTF">2026-06-13T09:52:01Z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89517EC3762948B59144612400001F1A_12</vt:lpwstr>
  </property>
  <property fmtid="{D5CDD505-2E9C-101B-9397-08002B2CF9AE}" pid="3" name="KSOProductBuildVer">
    <vt:lpwstr>2052-12.1.0.26895</vt:lpwstr>
  </property>
</Properties>
</file>